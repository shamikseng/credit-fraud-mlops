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72" r:id="rId24"/>
    <p:sldId id="271" r:id="rId23"/>
    <p:sldId id="270" r:id="rId22"/>
    <p:sldId id="267" r:id="rId12"/>
    <p:sldId id="277" r:id="rId29"/>
    <p:sldId id="276" r:id="rId28"/>
    <p:sldId id="275" r:id="rId27"/>
    <p:sldId id="274" r:id="rId26"/>
    <p:sldId id="273" r:id="rId25"/>
    <p:sldId id="268" r:id="rId13"/>
    <p:sldId id="269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-1232" y="-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4.xml"/><Relationship Id="rId13" Type="http://schemas.openxmlformats.org/officeDocument/2006/relationships/slide" Target="slides/slide20.xml"/><Relationship Id="rId14" Type="http://schemas.openxmlformats.org/officeDocument/2006/relationships/slide" Target="slides/slide21.xml"/><Relationship Id="rId15" Type="http://schemas.openxmlformats.org/officeDocument/2006/relationships/slide" Target="slides/slide22.xml"/><Relationship Id="rId16" Type="http://schemas.openxmlformats.org/officeDocument/2006/relationships/notesMaster" Target="notesMasters/notesMaster1.xml"/><Relationship Id="rId17" Type="http://schemas.openxmlformats.org/officeDocument/2006/relationships/printerSettings" Target="printerSettings/printerSettings1.bin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3.xml"/><Relationship Id="rId23" Type="http://schemas.openxmlformats.org/officeDocument/2006/relationships/slide" Target="slides/slide12.xml"/><Relationship Id="rId24" Type="http://schemas.openxmlformats.org/officeDocument/2006/relationships/slide" Target="slides/slide11.xml"/><Relationship Id="rId25" Type="http://schemas.openxmlformats.org/officeDocument/2006/relationships/slide" Target="slides/slide19.xml"/><Relationship Id="rId26" Type="http://schemas.openxmlformats.org/officeDocument/2006/relationships/slide" Target="slides/slide18.xml"/><Relationship Id="rId27" Type="http://schemas.openxmlformats.org/officeDocument/2006/relationships/slide" Target="slides/slide17.xml"/><Relationship Id="rId28" Type="http://schemas.openxmlformats.org/officeDocument/2006/relationships/slide" Target="slides/slide16.xml"/><Relationship Id="rId29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05/10/26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05/10/26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05/10/26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05/10/26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forms.gle/B9B71VPy5b9bZ9dJ8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xmlns="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B.Tech. Computer Science and Engineering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BCSE497J – Project-I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Explainable and Drift-Aware MLOps Pipeline for Credit Card Fraud Detection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xmlns="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Team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members:</a:t>
            </a:r>
            <a:endParaRPr sz="2000" dirty="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Shamik Sengupta		  (23BCE0608)</a:t>
            </a: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Yashaswini Kanaujia	  (23BCE0622)</a:t>
            </a: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endParaRPr lang="en-IN" sz="20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Times New Roman"/>
                <a:cs typeface="Times New Roman"/>
              </a:rPr>
              <a:t>Faculty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guide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spc="-50" dirty="0">
                <a:latin typeface="Times New Roman"/>
                <a:cs typeface="Times New Roman"/>
              </a:rPr>
              <a:t>:</a:t>
            </a:r>
            <a:endParaRPr lang="en-US"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z="2000" b="1" dirty="0">
                <a:latin typeface="Times New Roman"/>
                <a:cs typeface="Times New Roman"/>
              </a:rPr>
              <a:t>Dr. Sharmila C</a:t>
            </a:r>
            <a:endParaRPr lang="en-US" sz="2000" dirty="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endParaRPr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233367C-DAD6-6E34-D21A-A981C0944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i="1" dirty="0">
                <a:highlight>
                  <a:srgbClr val="FFFF00"/>
                </a:highlight>
              </a:rPr>
              <a:t>Get the approval for the following points from your guide through mail before  21-10-2026.(sample attached below</a:t>
            </a:r>
            <a:r>
              <a:rPr lang="en-IN" i="1" dirty="0" smtClean="0">
                <a:highlight>
                  <a:srgbClr val="FFFF00"/>
                </a:highlight>
              </a:rPr>
              <a:t>)</a:t>
            </a:r>
          </a:p>
          <a:p>
            <a:endParaRPr lang="en-IN" i="1" dirty="0">
              <a:highlight>
                <a:srgbClr val="FFFF00"/>
              </a:highlight>
            </a:endParaRPr>
          </a:p>
          <a:p>
            <a:endParaRPr lang="en-IN" i="1" dirty="0" smtClean="0">
              <a:highlight>
                <a:srgbClr val="FFFF00"/>
              </a:highlight>
            </a:endParaRPr>
          </a:p>
          <a:p>
            <a:endParaRPr lang="en-IN" i="1" dirty="0" smtClean="0">
              <a:highlight>
                <a:srgbClr val="FFFF00"/>
              </a:highlight>
            </a:endParaRPr>
          </a:p>
          <a:p>
            <a:endParaRPr lang="en-IN" i="1" dirty="0">
              <a:highlight>
                <a:srgbClr val="FFFF00"/>
              </a:highlight>
            </a:endParaRPr>
          </a:p>
          <a:p>
            <a:endParaRPr lang="en-IN" i="1" dirty="0" smtClean="0">
              <a:highlight>
                <a:srgbClr val="FFFF00"/>
              </a:highlight>
            </a:endParaRPr>
          </a:p>
          <a:p>
            <a:endParaRPr lang="en-IN" i="1" dirty="0" smtClean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IN" dirty="0" smtClean="0"/>
              <a:t>All </a:t>
            </a:r>
            <a:r>
              <a:rPr lang="en-IN" dirty="0"/>
              <a:t>the above aspects are addressed and updated by the project team.</a:t>
            </a:r>
          </a:p>
          <a:p>
            <a:pPr marL="0" indent="0">
              <a:buNone/>
            </a:pPr>
            <a:endParaRPr lang="en-IN" dirty="0">
              <a:highlight>
                <a:srgbClr val="FFFF00"/>
              </a:highlight>
            </a:endParaRPr>
          </a:p>
          <a:p>
            <a:endParaRPr lang="en-IN" i="1" dirty="0">
              <a:highlight>
                <a:srgbClr val="FFFF00"/>
              </a:highlight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05/10/26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Screen Shot 2026-10-05 at 11.12.4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053" y="2703606"/>
            <a:ext cx="8942979" cy="267146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63840" y="4023360"/>
            <a:ext cx="3840480" cy="1097280"/>
          </a:xfrm>
          <a:prstGeom prst="rect">
            <a:avLst/>
          </a:prstGeom>
          <a:solidFill>
            <a:srgbClr val="F7F7F7"/>
          </a:solidFill>
          <a:ln w="15875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1">
                <a:solidFill>
                  <a:srgbClr val="666666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Paste your approval mail screenshot here (replace the sample)</a:t>
            </a:r>
          </a:p>
        </p:txBody>
      </p:sp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05/10/26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1042416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404040"/>
                </a:solidFill>
                <a:latin typeface="Times New Roman"/>
                <a:cs typeface="Times New Roman"/>
              </a:rPr>
              <a:t>To design and build an end-to-end MLOps pipeline that </a:t>
            </a:r>
            <a:r>
              <a:rPr sz="2200" b="1" i="0">
                <a:solidFill>
                  <a:srgbClr val="1F3864"/>
                </a:solidFill>
                <a:latin typeface="Times New Roman"/>
                <a:cs typeface="Times New Roman"/>
              </a:rPr>
              <a:t>detects</a:t>
            </a:r>
            <a:r>
              <a:rPr sz="2200" b="0" i="0">
                <a:solidFill>
                  <a:srgbClr val="404040"/>
                </a:solidFill>
                <a:latin typeface="Times New Roman"/>
                <a:cs typeface="Times New Roman"/>
              </a:rPr>
              <a:t> fraudulent credit card transactions, </a:t>
            </a:r>
            <a:r>
              <a:rPr sz="2200" b="1" i="0">
                <a:solidFill>
                  <a:srgbClr val="1F3864"/>
                </a:solidFill>
                <a:latin typeface="Times New Roman"/>
                <a:cs typeface="Times New Roman"/>
              </a:rPr>
              <a:t>explains</a:t>
            </a:r>
            <a:r>
              <a:rPr sz="2200" b="0" i="0">
                <a:solidFill>
                  <a:srgbClr val="404040"/>
                </a:solidFill>
                <a:latin typeface="Times New Roman"/>
                <a:cs typeface="Times New Roman"/>
              </a:rPr>
              <a:t> every fraud decision to the analyst, and </a:t>
            </a:r>
            <a:r>
              <a:rPr sz="2200" b="1" i="0">
                <a:solidFill>
                  <a:srgbClr val="1F3864"/>
                </a:solidFill>
                <a:latin typeface="Times New Roman"/>
                <a:cs typeface="Times New Roman"/>
              </a:rPr>
              <a:t>monitors</a:t>
            </a:r>
            <a:r>
              <a:rPr sz="2200" b="0" i="0">
                <a:solidFill>
                  <a:srgbClr val="404040"/>
                </a:solidFill>
                <a:latin typeface="Times New Roman"/>
                <a:cs typeface="Times New Roman"/>
              </a:rPr>
              <a:t> live input data for drift, with the whole system versioned, tested and deployable as containers.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291840"/>
            <a:ext cx="3291840" cy="237744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39" y="3401568"/>
            <a:ext cx="3017520" cy="21579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Times New Roman"/>
                <a:cs typeface="Times New Roman"/>
              </a:rPr>
              <a:t>Detect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04040"/>
                </a:solidFill>
                <a:latin typeface="Times New Roman"/>
                <a:cs typeface="Times New Roman"/>
              </a:rPr>
              <a:t>XGBoost model tuned for heavily imbalanced data (0.17% fraud), served through a REST API.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3291840"/>
            <a:ext cx="3291840" cy="237744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401568"/>
            <a:ext cx="3017520" cy="21579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Times New Roman"/>
                <a:cs typeface="Times New Roman"/>
              </a:rPr>
              <a:t>Explain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04040"/>
                </a:solidFill>
                <a:latin typeface="Times New Roman"/>
                <a:cs typeface="Times New Roman"/>
              </a:rPr>
              <a:t>Top-5 SHAP feature contributions returned with every fraud prediction.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3291840"/>
            <a:ext cx="3291840" cy="237744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3401568"/>
            <a:ext cx="3017520" cy="21579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Times New Roman"/>
                <a:cs typeface="Times New Roman"/>
              </a:rPr>
              <a:t>Monitor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04040"/>
                </a:solidFill>
                <a:latin typeface="Times New Roman"/>
                <a:cs typeface="Times New Roman"/>
              </a:rPr>
              <a:t>Automatic drift checks on incoming data, with Prometheus alerts and a Grafana dashboard.</a:t>
            </a:r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51560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404040"/>
                </a:solidFill>
                <a:latin typeface="Times New Roman"/>
                <a:cs typeface="Times New Roman"/>
              </a:rPr>
              <a:t>Credit card fraud is rare but costly. A useful system must not only score transactions, but also explain its decisions and notice when incoming data changes.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404040"/>
                </a:solidFill>
                <a:latin typeface="Times New Roman"/>
                <a:cs typeface="Times New Roman"/>
              </a:rPr>
              <a:t>We built a complete MLOps pipeline on the ULB credit card dataset: DVC-versioned data, an XGBoost model tuned with Hyperopt (5-fold CV PR-AUC), and MLflow experiment tracking.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404040"/>
                </a:solidFill>
                <a:latin typeface="Times New Roman"/>
                <a:cs typeface="Times New Roman"/>
              </a:rPr>
              <a:t>The best model is served through FastAPI with input validation; every fraud prediction comes with its top-5 SHAP feature contributions.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404040"/>
                </a:solidFill>
                <a:latin typeface="Times New Roman"/>
                <a:cs typeface="Times New Roman"/>
              </a:rPr>
              <a:t>Incoming requests are compared with the training data using Evidently; drift is exported to Prometheus, alerted on, and shown in Grafana.</a:t>
            </a:r>
          </a:p>
          <a:p>
            <a:pPr algn="l" marL="228600" indent="-201168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404040"/>
                </a:solidFill>
                <a:latin typeface="Times New Roman"/>
                <a:cs typeface="Times New Roman"/>
              </a:rPr>
              <a:t>Everything runs with docker compose, and GitHub Actions runs 15 automated tests before building the Docker image.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846320"/>
            <a:ext cx="23774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1F3864"/>
                </a:solidFill>
                <a:latin typeface="Times New Roman"/>
                <a:cs typeface="Times New Roman"/>
              </a:rPr>
              <a:t>284,807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0468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Times New Roman"/>
                <a:cs typeface="Times New Roman"/>
              </a:rPr>
              <a:t>transactions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39" y="4846320"/>
            <a:ext cx="23774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1F3864"/>
                </a:solidFill>
                <a:latin typeface="Times New Roman"/>
                <a:cs typeface="Times New Roman"/>
              </a:rPr>
              <a:t>0.17%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39" y="550468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Times New Roman"/>
                <a:cs typeface="Times New Roman"/>
              </a:rPr>
              <a:t>are fraud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4846320"/>
            <a:ext cx="23774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1F3864"/>
                </a:solidFill>
                <a:latin typeface="Times New Roman"/>
                <a:cs typeface="Times New Roman"/>
              </a:rPr>
              <a:t>0.869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550468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Times New Roman"/>
                <a:cs typeface="Times New Roman"/>
              </a:rPr>
              <a:t>test PR-AUC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59" y="4846320"/>
            <a:ext cx="23774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1F3864"/>
                </a:solidFill>
                <a:latin typeface="Times New Roman"/>
                <a:cs typeface="Times New Roman"/>
              </a:rPr>
              <a:t>82 / 98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59" y="550468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Times New Roman"/>
                <a:cs typeface="Times New Roman"/>
              </a:rPr>
              <a:t>frauds caught</a:t>
            </a:r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89F3C486-F1E8-5229-C983-C5D8372F1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647" y="1374470"/>
            <a:ext cx="10169009" cy="205453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xmlns="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05/10/26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371600"/>
          <a:ext cx="11064240" cy="438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31720"/>
                <a:gridCol w="2011680"/>
                <a:gridCol w="2331720"/>
                <a:gridCol w="2286000"/>
                <a:gridCol w="21031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Pros / Cons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Findings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Dal Pozzolo et al., 2015 (IEEE SSCI)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Handle class imbalance in fraud data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Undersampling + probability calibration on ULB data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+ Simple, fast
− Distorts probabilities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Scores must be recalibrated after undersampling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Chen &amp; Guestrin, 2016 (ACM KDD)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Scalable tree boosting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XGBoost: regularised gradient boosting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+ Accurate, class weights
− Many hyperparameters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Strong default for tabular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Bergstra et al., 2013 (ICML)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Automate hyperparameter search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Hyperopt with TPE algorithm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+ Fewer trials than grid search
− Results vary with seed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Efficient model tuning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Saito &amp; Rehmsmeier, 2015 (PLoS ONE)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Evaluate classifiers on imbalanced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Compare ROC and PR plots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+ Clear guidance
− Binary tasks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PR curve is more informative than ROC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Lundberg &amp; Lee, 2017; Lundberg et al., 2020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Explain individual predictions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SHAP values; exact TreeSHAP for trees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+ Exact, per prediction
− Hard to read on PCA features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Consistent local explanations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Gama et al., 2014 (ACM CSUR)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Handle concept drift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Survey of drift detection methods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+ Broad taxonomy
− No deployment details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Deployed models must be monitored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Kreuzberger et al., 2023 (IEEE Access)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Define MLOps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Literature review + expert interviews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+ Clear components
− No implementation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Needs versioning, CI/CD, serving, monitoring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463040"/>
            <a:ext cx="969264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3864"/>
                </a:solidFill>
                <a:latin typeface="Times New Roman"/>
                <a:cs typeface="Times New Roman"/>
              </a:rPr>
              <a:t>Evaluation stops at the notebook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04040"/>
                </a:solidFill>
                <a:latin typeface="Times New Roman"/>
                <a:cs typeface="Times New Roman"/>
              </a:rPr>
              <a:t>Most fraud studies report test-set accuracy only. With 0.17% fraud, predicting "legitimate" for everything already gives 99.83% accuracy.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063239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88920"/>
            <a:ext cx="969264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3864"/>
                </a:solidFill>
                <a:latin typeface="Times New Roman"/>
                <a:cs typeface="Times New Roman"/>
              </a:rPr>
              <a:t>Explainability and drift are studied separately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04040"/>
                </a:solidFill>
                <a:latin typeface="Times New Roman"/>
                <a:cs typeface="Times New Roman"/>
              </a:rPr>
              <a:t>SHAP and drift detection are rarely shown together inside a running prediction service.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389120"/>
            <a:ext cx="548640" cy="54864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114800"/>
            <a:ext cx="969264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3864"/>
                </a:solidFill>
                <a:latin typeface="Times New Roman"/>
                <a:cs typeface="Times New Roman"/>
              </a:rPr>
              <a:t>Practical deployment problems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04040"/>
                </a:solidFill>
                <a:latin typeface="Times New Roman"/>
                <a:cs typeface="Times New Roman"/>
              </a:rPr>
              <a:t>The baseline template had one fragile test, no monitoring, and dead AWS links. Evidently and FastAPI also clash on the "multipart" package, so they cannot share one process.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5486400"/>
            <a:ext cx="10469880" cy="73152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39" y="5596128"/>
            <a:ext cx="10195559" cy="51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Times New Roman"/>
                <a:cs typeface="Times New Roman"/>
              </a:rPr>
              <a:t>Our approach:  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04040"/>
                </a:solidFill>
                <a:latin typeface="Times New Roman"/>
                <a:cs typeface="Times New Roman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5596128"/>
            <a:ext cx="8412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Times New Roman"/>
                <a:cs typeface="Times New Roman"/>
              </a:rPr>
              <a:t>PR-AUC based evaluation + SHAP + isolated drift worker, all in one tested, containerised service</a:t>
            </a:r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680" y="1325880"/>
            <a:ext cx="10515600" cy="2606040"/>
          </a:xfrm>
        </p:spPr>
        <p:txBody>
          <a:bodyPr>
            <a:normAutofit/>
          </a:bodyPr>
          <a:lstStyle/>
          <a:p>
            <a:r>
              <a:rPr lang="en-IN" dirty="0" sz="1800">
                <a:latin typeface="Times New Roman" panose="02020603050405020304" pitchFamily="18" charset="0"/>
                <a:cs typeface="Times New Roman" panose="02020603050405020304" pitchFamily="18" charset="0"/>
              </a:rPr>
              <a:t>Train a fraud model without data leakage: stratified split, 5-fold CV and PR-AUC</a:t>
            </a:r>
          </a:p>
          <a:p>
            <a:r>
              <a:rPr lang="en-IN" dirty="0" sz="1800">
                <a:latin typeface="Times New Roman" panose="02020603050405020304" pitchFamily="18" charset="0"/>
                <a:cs typeface="Times New Roman" panose="02020603050405020304" pitchFamily="18" charset="0"/>
              </a:rPr>
              <a:t>Tune XGBoost with Hyperopt and track every run in MLflow</a:t>
            </a:r>
          </a:p>
          <a:p>
            <a:r>
              <a:rPr sz="1800">
                <a:latin typeface="Times New Roman"/>
                <a:cs typeface="Times New Roman"/>
              </a:rPr>
              <a:t>Serve the best model through a validated REST API (single and batch)</a:t>
            </a:r>
          </a:p>
          <a:p>
            <a:r>
              <a:rPr sz="1800">
                <a:latin typeface="Times New Roman"/>
                <a:cs typeface="Times New Roman"/>
              </a:rPr>
              <a:t>Return a SHAP explanation with every fraud prediction</a:t>
            </a:r>
          </a:p>
          <a:p>
            <a:r>
              <a:rPr sz="1800">
                <a:latin typeface="Times New Roman"/>
                <a:cs typeface="Times New Roman"/>
              </a:rPr>
              <a:t>Detect input drift automatically and raise Prometheus alerts</a:t>
            </a:r>
          </a:p>
          <a:p>
            <a:r>
              <a:rPr sz="1800">
                <a:latin typeface="Times New Roman"/>
                <a:cs typeface="Times New Roman"/>
              </a:rPr>
              <a:t>Package with Docker and run tests automatically in CI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2632EBB-2D05-8D00-7F98-43CBAFAF06ED}"/>
              </a:ext>
            </a:extLst>
          </p:cNvPr>
          <p:cNvSpPr txBox="1"/>
          <p:nvPr/>
        </p:nvSpPr>
        <p:spPr>
          <a:xfrm>
            <a:off x="460248" y="3931920"/>
            <a:ext cx="1152340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z="1600" b="1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Identified:   SDGs 8, 9 and 16          |          TRL 4 (validated in lab)          |          Outcome: Conference paper</a:t>
            </a: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xmlns="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01" y="4389120"/>
            <a:ext cx="2281427" cy="1828800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xmlns="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545" y="4389120"/>
            <a:ext cx="2004398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/ Architecture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3815"/>
            <a:ext cx="11247120" cy="3698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548640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  <a:cs typeface="Times New Roman"/>
              </a:rPr>
              <a:t>Offline training</a:t>
            </a: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 → MLflow   |   </a:t>
            </a:r>
            <a:r>
              <a:rPr sz="1500" b="1" i="0">
                <a:solidFill>
                  <a:srgbClr val="1F3864"/>
                </a:solidFill>
                <a:latin typeface="Times New Roman"/>
                <a:cs typeface="Times New Roman"/>
              </a:rPr>
              <a:t>CI/CD</a:t>
            </a: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 builds the image   |   </a:t>
            </a:r>
            <a:r>
              <a:rPr sz="1500" b="1" i="0">
                <a:solidFill>
                  <a:srgbClr val="1F3864"/>
                </a:solidFill>
                <a:latin typeface="Times New Roman"/>
                <a:cs typeface="Times New Roman"/>
              </a:rPr>
              <a:t>FastAPI</a:t>
            </a: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 serves the best run   |   </a:t>
            </a:r>
            <a:r>
              <a:rPr sz="1500" b="1" i="0">
                <a:solidFill>
                  <a:srgbClr val="1F3864"/>
                </a:solidFill>
                <a:latin typeface="Times New Roman"/>
                <a:cs typeface="Times New Roman"/>
              </a:rPr>
              <a:t>Prometheus + Grafana</a:t>
            </a: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 watch drift</a:t>
            </a: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6583680" cy="466344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27048"/>
            <a:ext cx="63093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3864"/>
                </a:solidFill>
                <a:latin typeface="Times New Roman"/>
                <a:cs typeface="Times New Roman"/>
              </a:rPr>
              <a:t>Functional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6309360" cy="406907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Predict Fraud / Legitimate with fraud probability from a JSON transaction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Return top-5 SHAP features for every fraud prediction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Reject missing or non-numeric fields (HTTP 422)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Batch prediction on an uploaded CSV file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Track all runs in MLflow; always serve the best one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Drift check every 500 requests or on demand; show in Prometheus and Grafana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417320"/>
            <a:ext cx="4069080" cy="466344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527048"/>
            <a:ext cx="37947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3864"/>
                </a:solidFill>
                <a:latin typeface="Times New Roman"/>
                <a:cs typeface="Times New Roman"/>
              </a:rPr>
              <a:t>Non-functional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920240"/>
            <a:ext cx="3794760" cy="406907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Prediction well under 100 ms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Drift failures never break predictions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Reproducible: seed 42, DVC data, pinned versions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Same container locally, compose and Kubernetes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Tests run without dataset or MLflow (CI-friendly)</a:t>
            </a: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3154680" cy="18836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1F3864"/>
                </a:solidFill>
                <a:latin typeface="Times New Roman"/>
                <a:cs typeface="Times New Roman"/>
              </a:rPr>
              <a:t>1. Data &amp; Versioning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04040"/>
                </a:solidFill>
                <a:latin typeface="Times New Roman"/>
                <a:cs typeface="Times New Roman"/>
              </a:rPr>
              <a:t>DVC-tracked dataset; stratified 80/20 split keeps the 0.17% fraud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72768"/>
            <a:ext cx="3154680" cy="18836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1F3864"/>
                </a:solidFill>
                <a:latin typeface="Times New Roman"/>
                <a:cs typeface="Times New Roman"/>
              </a:rPr>
              <a:t>2. Training &amp; Tuning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04040"/>
                </a:solidFill>
                <a:latin typeface="Times New Roman"/>
                <a:cs typeface="Times New Roman"/>
              </a:rPr>
              <a:t>RobustScaler + XGBoost (class weight ≈ 577); Hyperopt, 20 trials × 5-fold CV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46304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572768"/>
            <a:ext cx="3154680" cy="18836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1F3864"/>
                </a:solidFill>
                <a:latin typeface="Times New Roman"/>
                <a:cs typeface="Times New Roman"/>
              </a:rPr>
              <a:t>3. Prediction API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04040"/>
                </a:solidFill>
                <a:latin typeface="Times New Roman"/>
                <a:cs typeface="Times New Roman"/>
              </a:rPr>
              <a:t>FastAPI with pydantic validation; best MLflow run cached in memory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40479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50207"/>
            <a:ext cx="3154680" cy="18836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1F3864"/>
                </a:solidFill>
                <a:latin typeface="Times New Roman"/>
                <a:cs typeface="Times New Roman"/>
              </a:rPr>
              <a:t>4. Explainability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04040"/>
                </a:solidFill>
                <a:latin typeface="Times New Roman"/>
                <a:cs typeface="Times New Roman"/>
              </a:rPr>
              <a:t>SHAP TreeExplainer; top-5 features for fraud predictions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840479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950207"/>
            <a:ext cx="3154680" cy="18836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1F3864"/>
                </a:solidFill>
                <a:latin typeface="Times New Roman"/>
                <a:cs typeface="Times New Roman"/>
              </a:rPr>
              <a:t>5. Drift Monitoring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04040"/>
                </a:solidFill>
                <a:latin typeface="Times New Roman"/>
                <a:cs typeface="Times New Roman"/>
              </a:rPr>
              <a:t>Evidently worker every 500 requests; Prometheus gauges and alerts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3840479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3950207"/>
            <a:ext cx="3154680" cy="18836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1F3864"/>
                </a:solidFill>
                <a:latin typeface="Times New Roman"/>
                <a:cs typeface="Times New Roman"/>
              </a:rPr>
              <a:t>6. Deployment &amp; CI/CD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04040"/>
                </a:solidFill>
                <a:latin typeface="Times New Roman"/>
                <a:cs typeface="Times New Roman"/>
              </a:rPr>
              <a:t>Docker, docker compose, Kubernetes; GitHub Actions test → build → push</a:t>
            </a: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– Data Flow and Sequence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d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91" y="1325880"/>
            <a:ext cx="2612536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989320"/>
            <a:ext cx="28346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404040"/>
                </a:solidFill>
                <a:latin typeface="Times New Roman"/>
                <a:cs typeface="Times New Roman"/>
              </a:rPr>
              <a:t>Level-1 Data Flow Diagram</a:t>
            </a:r>
          </a:p>
        </p:txBody>
      </p:sp>
      <p:pic>
        <p:nvPicPr>
          <p:cNvPr id="9" name="Picture 8" descr="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326" y="1371600"/>
            <a:ext cx="6559826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0" y="5989320"/>
            <a:ext cx="795527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404040"/>
                </a:solidFill>
                <a:latin typeface="Times New Roman"/>
                <a:cs typeface="Times New Roman"/>
              </a:rPr>
              <a:t>Sequence of a prediction request</a:t>
            </a: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– Training and Prediction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1691640" cy="86868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cs typeface="Times New Roman"/>
              </a:rPr>
              <a:t>creditcard.csv (DVC)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58568" y="1860804"/>
            <a:ext cx="146304" cy="164592"/>
          </a:xfrm>
          <a:prstGeom prst="rightArrow">
            <a:avLst/>
          </a:prstGeom>
          <a:solidFill>
            <a:srgbClr val="8A9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23160" y="1508760"/>
            <a:ext cx="1691640" cy="868680"/>
          </a:xfrm>
          <a:prstGeom prst="roundRect">
            <a:avLst>
              <a:gd name="adj" fmla="val 15000"/>
            </a:avLst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1F3864"/>
                </a:solidFill>
                <a:latin typeface="Times New Roman"/>
                <a:cs typeface="Times New Roman"/>
              </a:rPr>
              <a:t>Stratified split 80/20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1860804"/>
            <a:ext cx="146304" cy="164592"/>
          </a:xfrm>
          <a:prstGeom prst="rightArrow">
            <a:avLst/>
          </a:prstGeom>
          <a:solidFill>
            <a:srgbClr val="8A9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1508760"/>
            <a:ext cx="1691640" cy="868680"/>
          </a:xfrm>
          <a:prstGeom prst="roundRect">
            <a:avLst>
              <a:gd name="adj" fmla="val 15000"/>
            </a:avLst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1F3864"/>
                </a:solidFill>
                <a:latin typeface="Times New Roman"/>
                <a:cs typeface="Times New Roman"/>
              </a:rPr>
              <a:t>RobustScaler (Time, Amount)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07608" y="1860804"/>
            <a:ext cx="146304" cy="164592"/>
          </a:xfrm>
          <a:prstGeom prst="rightArrow">
            <a:avLst/>
          </a:prstGeom>
          <a:solidFill>
            <a:srgbClr val="8A9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508760"/>
            <a:ext cx="1691640" cy="868680"/>
          </a:xfrm>
          <a:prstGeom prst="roundRect">
            <a:avLst>
              <a:gd name="adj" fmla="val 15000"/>
            </a:avLst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1F3864"/>
                </a:solidFill>
                <a:latin typeface="Times New Roman"/>
                <a:cs typeface="Times New Roman"/>
              </a:rPr>
              <a:t>XGBoost w = 577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82128" y="1860804"/>
            <a:ext cx="146304" cy="164592"/>
          </a:xfrm>
          <a:prstGeom prst="rightArrow">
            <a:avLst/>
          </a:prstGeom>
          <a:solidFill>
            <a:srgbClr val="8A9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1508760"/>
            <a:ext cx="1691640" cy="868680"/>
          </a:xfrm>
          <a:prstGeom prst="roundRect">
            <a:avLst>
              <a:gd name="adj" fmla="val 15000"/>
            </a:avLst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1F3864"/>
                </a:solidFill>
                <a:latin typeface="Times New Roman"/>
                <a:cs typeface="Times New Roman"/>
              </a:rPr>
              <a:t>Hyperopt 20 × 5-fold CV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756648" y="1860804"/>
            <a:ext cx="146304" cy="164592"/>
          </a:xfrm>
          <a:prstGeom prst="rightArrow">
            <a:avLst/>
          </a:prstGeom>
          <a:solidFill>
            <a:srgbClr val="8A9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921240" y="1508760"/>
            <a:ext cx="1691640" cy="86868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cs typeface="Times New Roman"/>
              </a:rPr>
              <a:t>MLflow best by PR-AUC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743200"/>
            <a:ext cx="5394960" cy="338328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852928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3864"/>
                </a:solidFill>
                <a:latin typeface="Times New Roman"/>
                <a:cs typeface="Times New Roman"/>
              </a:rPr>
              <a:t>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246120"/>
            <a:ext cx="5120640" cy="2788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404040"/>
                </a:solidFill>
                <a:latin typeface="Times New Roman"/>
                <a:cs typeface="Times New Roman"/>
              </a:rPr>
              <a:t>Train: 227,845 rows (394 frauds); Test: 56,962 rows (98 frauds)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404040"/>
                </a:solidFill>
                <a:latin typeface="Times New Roman"/>
                <a:cs typeface="Times New Roman"/>
              </a:rPr>
              <a:t>Class weight instead of resampling handles imbalance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404040"/>
                </a:solidFill>
                <a:latin typeface="Times New Roman"/>
                <a:cs typeface="Times New Roman"/>
              </a:rPr>
              <a:t>Each trial scored by mean PR-AUC over 5 folds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404040"/>
                </a:solidFill>
                <a:latin typeface="Times New Roman"/>
                <a:cs typeface="Times New Roman"/>
              </a:rPr>
              <a:t>Best settings: depth 5, 300 trees, learning rate 0.093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700" b="0" i="0">
                <a:solidFill>
                  <a:srgbClr val="404040"/>
                </a:solidFill>
                <a:latin typeface="Times New Roman"/>
                <a:cs typeface="Times New Roman"/>
              </a:rPr>
              <a:t>Training run takes about 6.4 minutes on a laptop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788920"/>
            <a:ext cx="53949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F3864"/>
                </a:solidFill>
                <a:latin typeface="Times New Roman"/>
                <a:cs typeface="Times New Roman"/>
              </a:rPr>
              <a:t>Prediction API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217920" y="3246120"/>
          <a:ext cx="539496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4600"/>
                <a:gridCol w="28803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Endpoint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Purpose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POST /prediction_api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Label, probability, SHAP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POST /prediction_ui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Label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POST /batch_prediction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CSV in, CSV with predictions out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POST, GET /monitoring/drift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Run / read drift check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GET /metrics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Prometheus metrics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– Explainability and Drift Monitoring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466344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27048"/>
            <a:ext cx="51663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3864"/>
                </a:solidFill>
                <a:latin typeface="Times New Roman"/>
                <a:cs typeface="Times New Roman"/>
              </a:rPr>
              <a:t>Explainability (SHAP)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166360" cy="406907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TreeExplainer gives exact contributions for XGBoost and is fast (~12 ms)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Returned only for fraud predictions, so normal traffic is not slowed down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Each feature: value, SHAP score and direction (increases / decreases fraud risk)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Example: V14, V10 and V12 were the top reasons for a real fraud transaction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440680" cy="466344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27048"/>
            <a:ext cx="51663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3864"/>
                </a:solidFill>
                <a:latin typeface="Times New Roman"/>
                <a:cs typeface="Times New Roman"/>
              </a:rPr>
              <a:t>Drift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920240"/>
            <a:ext cx="5166360" cy="406907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Every request is stored in a buffer of 500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A separate worker process runs Evidently against 20,000 training rows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29 features checked (Time excluded: it always increases)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Feature drifts if score &gt; 0.1; dataset drifts if ≥ 30% of features drift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Prometheus alerts fire if drift lasts 10 minutes</a:t>
            </a: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 – Setup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45354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1680"/>
                <a:gridCol w="90525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Item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Details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Dataset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ULB credit card fraud: 284,807 transactions, 492 frauds (0.17%); features Time, V1–V28 (PCA), Amount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Split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Stratified 80 / 20, random seed 42; test set used only once at the end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Model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XGBoost with scale_pos_weight ≈ 577, preprocessing inside a scikit-learn Pipeline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Tuning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Hyperopt TPE, 20 trials, each scored by mean 5-fold CV PR-AUC (range 0.773 – 0.854)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Metrics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PR-AUC (main), ROC-AUC, precision, recall, F1 on the fraud class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Drift 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300 normal test transactions vs 300 shifted (Amount × 3, 12 PCA features + 1.5)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Tools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Python, scikit-learn, XGBoost, MLflow, SHAP, FastAPI, Evidently, Prometheus, Grafana, Docker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 – Model Performance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2880360" cy="1234440"/>
          </a:xfrm>
          <a:prstGeom prst="roundRect">
            <a:avLst>
              <a:gd name="adj" fmla="val 8000"/>
            </a:avLst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28803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1F3864"/>
                </a:solidFill>
                <a:latin typeface="Times New Roman"/>
                <a:cs typeface="Times New Roman"/>
              </a:rPr>
              <a:t>0.869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58568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Times New Roman"/>
                <a:cs typeface="Times New Roman"/>
              </a:rPr>
              <a:t>PR-AUC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508760"/>
            <a:ext cx="2880360" cy="1234440"/>
          </a:xfrm>
          <a:prstGeom prst="roundRect">
            <a:avLst>
              <a:gd name="adj" fmla="val 8000"/>
            </a:avLst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600200"/>
            <a:ext cx="28803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1F3864"/>
                </a:solidFill>
                <a:latin typeface="Times New Roman"/>
                <a:cs typeface="Times New Roman"/>
              </a:rPr>
              <a:t>0.981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258568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Times New Roman"/>
                <a:cs typeface="Times New Roman"/>
              </a:rPr>
              <a:t>ROC-AUC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26080"/>
            <a:ext cx="2880360" cy="1234440"/>
          </a:xfrm>
          <a:prstGeom prst="roundRect">
            <a:avLst>
              <a:gd name="adj" fmla="val 8000"/>
            </a:avLst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28803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1F3864"/>
                </a:solidFill>
                <a:latin typeface="Times New Roman"/>
                <a:cs typeface="Times New Roman"/>
              </a:rPr>
              <a:t>0.863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75888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Times New Roman"/>
                <a:cs typeface="Times New Roman"/>
              </a:rPr>
              <a:t>Precision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2926080"/>
            <a:ext cx="2880360" cy="1234440"/>
          </a:xfrm>
          <a:prstGeom prst="roundRect">
            <a:avLst>
              <a:gd name="adj" fmla="val 8000"/>
            </a:avLst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3017520"/>
            <a:ext cx="28803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1F3864"/>
                </a:solidFill>
                <a:latin typeface="Times New Roman"/>
                <a:cs typeface="Times New Roman"/>
              </a:rPr>
              <a:t>0.837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675888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Times New Roman"/>
                <a:cs typeface="Times New Roman"/>
              </a:rPr>
              <a:t>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26280"/>
            <a:ext cx="603504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404040"/>
                </a:solidFill>
                <a:latin typeface="Times New Roman"/>
                <a:cs typeface="Times New Roman"/>
              </a:rPr>
              <a:t>Caught 82 of 98 frauds in the test set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404040"/>
                </a:solidFill>
                <a:latin typeface="Times New Roman"/>
                <a:cs typeface="Times New Roman"/>
              </a:rPr>
              <a:t>Only 13 false alarms out of 56,864 legitimate transactions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404040"/>
                </a:solidFill>
                <a:latin typeface="Times New Roman"/>
                <a:cs typeface="Times New Roman"/>
              </a:rPr>
              <a:t>Accuracy (99.95%) is not used: predicting all legitimate already gives 99.83%</a:t>
            </a:r>
          </a:p>
        </p:txBody>
      </p:sp>
      <p:pic>
        <p:nvPicPr>
          <p:cNvPr id="20" name="Picture 19" descr="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70616"/>
            <a:ext cx="4572000" cy="389964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58000" y="566928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404040"/>
                </a:solidFill>
                <a:latin typeface="Times New Roman"/>
                <a:cs typeface="Times New Roman"/>
              </a:rPr>
              <a:t>Confusion matrix (test set, threshold 0.5)</a:t>
            </a: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 – Curves and Explanation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5188"/>
            <a:ext cx="6675120" cy="30246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617720"/>
            <a:ext cx="6675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404040"/>
                </a:solidFill>
                <a:latin typeface="Times New Roman"/>
                <a:cs typeface="Times New Roman"/>
              </a:rPr>
              <a:t>Precision-recall and ROC curves on the test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9200"/>
            <a:ext cx="64922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The ROC curve looks almost perfect, but the PR curve is more honest: precision stays high up to ~80% recall, then drops.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463040"/>
            <a:ext cx="4206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3864"/>
                </a:solidFill>
                <a:latin typeface="Times New Roman"/>
                <a:cs typeface="Times New Roman"/>
              </a:rPr>
              <a:t>SHAP explanation of a real fraud (p = 0.99997)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06640" y="2011680"/>
          <a:ext cx="420624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5840"/>
                <a:gridCol w="1051560"/>
                <a:gridCol w="1005840"/>
                <a:gridCol w="11430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Value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SHAP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Effect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V14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−6.17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+3.12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↑ fraud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V10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−4.88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+1.75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↑ fraud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V12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−4.69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+1.23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↑ fraud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V8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1.17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−0.92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↓ fraud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V2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2.46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−0.69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↓ fraud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406640" y="4937760"/>
            <a:ext cx="42062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Very low V14, V10 and V12 values pushed the transaction towards fraud.</a:t>
            </a: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 – Drift Detection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70916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404040"/>
                </a:solidFill>
                <a:latin typeface="Times New Roman"/>
                <a:cs typeface="Times New Roman"/>
              </a:rPr>
              <a:t>Drift score per feature (threshold 0.1)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046720" y="1645920"/>
          <a:ext cx="3566160" cy="1508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5840"/>
                <a:gridCol w="914400"/>
                <a:gridCol w="822960"/>
                <a:gridCol w="8229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Traffic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Drifted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Share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Alert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Normal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2 / 29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0.07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Shifted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18 / 29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0.62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46720" y="3429000"/>
            <a:ext cx="3566160" cy="2651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Normal traffic stayed below the 0.3 alert level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All 13 changed features scored 0.78 – 1.63</a:t>
            </a:r>
          </a:p>
          <a:p>
            <a:pPr algn="l" marL="228600" indent="-201168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Both Prometheus alert rules became 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72237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Shifted traffic: Amount tripled and 12 PCA features moved by +1.5 to imitate a change in customer behaviour.</a:t>
            </a: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 – Demonstration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prom_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78280"/>
            <a:ext cx="5577840" cy="3718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303520"/>
            <a:ext cx="5577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404040"/>
                </a:solidFill>
                <a:latin typeface="Times New Roman"/>
                <a:cs typeface="Times New Roman"/>
              </a:rPr>
              <a:t>Prometheus: drift alerts active during shifted traffic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17320"/>
            <a:ext cx="5394960" cy="2148840"/>
          </a:xfrm>
          <a:prstGeom prst="rect">
            <a:avLst/>
          </a:prstGeom>
          <a:solidFill>
            <a:srgbClr val="F7F7F7"/>
          </a:solidFill>
          <a:ln w="15875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1">
                <a:solidFill>
                  <a:srgbClr val="666666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Paste screenshot: Grafana "Fraud Model – Input Drift" 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749039"/>
            <a:ext cx="5394960" cy="2148840"/>
          </a:xfrm>
          <a:prstGeom prst="rect">
            <a:avLst/>
          </a:prstGeom>
          <a:solidFill>
            <a:srgbClr val="F7F7F7"/>
          </a:solidFill>
          <a:ln w="15875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1">
                <a:solidFill>
                  <a:srgbClr val="666666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Paste screenshot: FastAPI /docs or a /prediction_api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6928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404040"/>
                </a:solidFill>
                <a:latin typeface="Times New Roman"/>
                <a:cs typeface="Times New Roman"/>
              </a:rPr>
              <a:t>Run: docker compose up --build  →  API :8005 | Prometheus :9090 | Grafana :3000</a:t>
            </a: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 – Testing and CI/CD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6675120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7440"/>
                <a:gridCol w="731520"/>
                <a:gridCol w="356616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Area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Tests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What is checked</a:t>
                      </a:r>
                    </a:p>
                  </a:txBody>
                  <a:tcPr marL="54864" marR="54864" marT="27432" marB="27432" anchor="ctr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Input validation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Valid input accepted; missing / wrong type rejected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Feature contract + data split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30 features; fraud ratio kept; split repeatable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SHAP explanation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Top-N features, sorted by importance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Drift buffer + summary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Fires every window; Evidently output parsed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Prometheus + end-to-end drift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  <a:latin typeface="Times New Roman"/>
                          <a:cs typeface="Times New Roman"/>
                        </a:rPr>
                        <a:t>Gauges updated; real worker detects shift</a:t>
                      </a:r>
                    </a:p>
                  </a:txBody>
                  <a:tcPr marL="54864" marR="54864" marT="27432" marB="27432" anchor="ctr"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80960" y="1600200"/>
            <a:ext cx="38404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1F3864"/>
                </a:solidFill>
                <a:latin typeface="Times New Roman"/>
                <a:cs typeface="Times New Roman"/>
              </a:rPr>
              <a:t>15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258568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Times New Roman"/>
                <a:cs typeface="Times New Roman"/>
              </a:rPr>
              <a:t>tests passing (~15 s, no dataset needed)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74920"/>
            <a:ext cx="2057400" cy="86868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cs typeface="Times New Roman"/>
              </a:rPr>
              <a:t>git push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24328" y="5426964"/>
            <a:ext cx="164592" cy="164592"/>
          </a:xfrm>
          <a:prstGeom prst="rightArrow">
            <a:avLst/>
          </a:prstGeom>
          <a:solidFill>
            <a:srgbClr val="8A9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07208" y="5074920"/>
            <a:ext cx="2057400" cy="868680"/>
          </a:xfrm>
          <a:prstGeom prst="roundRect">
            <a:avLst>
              <a:gd name="adj" fmla="val 15000"/>
            </a:avLst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400" b="1">
                <a:solidFill>
                  <a:srgbClr val="1F3864"/>
                </a:solidFill>
                <a:latin typeface="Times New Roman"/>
                <a:cs typeface="Times New Roman"/>
              </a:rPr>
              <a:t>pytest (15 tests)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2896" y="5426964"/>
            <a:ext cx="164592" cy="164592"/>
          </a:xfrm>
          <a:prstGeom prst="rightArrow">
            <a:avLst/>
          </a:prstGeom>
          <a:solidFill>
            <a:srgbClr val="8A9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65776" y="5074920"/>
            <a:ext cx="2057400" cy="868680"/>
          </a:xfrm>
          <a:prstGeom prst="roundRect">
            <a:avLst>
              <a:gd name="adj" fmla="val 15000"/>
            </a:avLst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400" b="1">
                <a:solidFill>
                  <a:srgbClr val="1F3864"/>
                </a:solidFill>
                <a:latin typeface="Times New Roman"/>
                <a:cs typeface="Times New Roman"/>
              </a:rPr>
              <a:t>docker build (tests again)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41464" y="5426964"/>
            <a:ext cx="164592" cy="164592"/>
          </a:xfrm>
          <a:prstGeom prst="rightArrow">
            <a:avLst/>
          </a:prstGeom>
          <a:solidFill>
            <a:srgbClr val="8A9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24344" y="5074920"/>
            <a:ext cx="2057400" cy="868680"/>
          </a:xfrm>
          <a:prstGeom prst="roundRect">
            <a:avLst>
              <a:gd name="adj" fmla="val 15000"/>
            </a:avLst>
          </a:prstGeom>
          <a:solidFill>
            <a:srgbClr val="EA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400" b="1">
                <a:solidFill>
                  <a:srgbClr val="1F3864"/>
                </a:solidFill>
                <a:latin typeface="Times New Roman"/>
                <a:cs typeface="Times New Roman"/>
              </a:rPr>
              <a:t>Push image to GHCR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400032" y="5426964"/>
            <a:ext cx="164592" cy="164592"/>
          </a:xfrm>
          <a:prstGeom prst="rightArrow">
            <a:avLst/>
          </a:prstGeom>
          <a:solidFill>
            <a:srgbClr val="8A9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82912" y="5074920"/>
            <a:ext cx="2057400" cy="86868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  <a:cs typeface="Times New Roman"/>
              </a:rPr>
              <a:t>docker compose / Kubernetes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926080"/>
            <a:ext cx="384048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Times New Roman"/>
                <a:cs typeface="Times New Roman"/>
              </a:rPr>
              <a:t>The old template had one test that broke every time a new model was trained. A failing test now blocks the image from being built.</a:t>
            </a: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760720" cy="466344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27048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3864"/>
                </a:solidFill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486400" cy="406907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Complete MLOps pipeline from versioned data to monitored containers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PR-AUC 0.869: 82 of 98 frauds caught with only 13 false alarms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Every fraud prediction is explained with SHAP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Drift detector clearly separated normal (2/29) and shifted (18/29) traffic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15 automated tests, one-command deployment, CI-built images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417320"/>
            <a:ext cx="5120640" cy="4663440"/>
          </a:xfrm>
          <a:prstGeom prst="roundRect">
            <a:avLst>
              <a:gd name="adj" fmla="val 6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527048"/>
            <a:ext cx="4846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3864"/>
                </a:solidFill>
                <a:latin typeface="Times New Roman"/>
                <a:cs typeface="Times New Roman"/>
              </a:rPr>
              <a:t>Future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920240"/>
            <a:ext cx="4846320" cy="406907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Automatic retraining when drift is detected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MLflow Model Registry for versioned deployments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Send alerts to email / Slack via Alertmanager</a:t>
            </a:r>
          </a:p>
          <a:p>
            <a:pPr algn="l" marL="228600" indent="-201168">
              <a:spcAft>
                <a:spcPts val="300"/>
              </a:spcAft>
              <a:buFont typeface="Arial"/>
              <a:buChar char="•"/>
            </a:pPr>
            <a:r>
              <a:rPr sz="1900" b="0" i="0">
                <a:solidFill>
                  <a:srgbClr val="404040"/>
                </a:solidFill>
                <a:latin typeface="Times New Roman"/>
                <a:cs typeface="Times New Roman"/>
              </a:rPr>
              <a:t>Test on data with real, named features over a longer period</a:t>
            </a: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1EE89F-6F96-DF9C-768A-8B2A7BEA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 Achieved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65DBCB3-75D0-D33A-66EA-4DDA4A022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Patent – Filed/ Published/ Granted – Screen shot 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(or)</a:t>
            </a:r>
          </a:p>
          <a:p>
            <a:pPr marL="0" indent="0">
              <a:buNone/>
            </a:pPr>
            <a:r>
              <a:rPr lang="en-IN" dirty="0" b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Proceedings – Accepted/ Published/ Scopus Indexed  ← Our outcome: conference paper (status: ____ )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(or)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Publication – Accepted/ Published/ Scopus Indexed 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Start-up information (if any)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Others</a:t>
            </a:r>
          </a:p>
          <a:p>
            <a:pPr marL="0" indent="0" algn="ctr">
              <a:buNone/>
            </a:pPr>
            <a:r>
              <a:rPr lang="en-IN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 </a:t>
            </a:r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Achieved Proof to be uploaded on or before 27 Oct 2026 in the given link </a:t>
            </a:r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https://forms.gle/</a:t>
            </a:r>
            <a:r>
              <a:rPr lang="en-IN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B9B71VPy5b9bZ9dJ8</a:t>
            </a:r>
            <a:endParaRPr lang="en-IN" sz="32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F86E621-0A63-DDD2-60A0-511D9D7C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966F66-9685-CC43-3B74-035A03CAF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2234F7B-54B7-5C34-9356-A94BE39E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5707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xmlns="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592" y="1325880"/>
            <a:ext cx="10515600" cy="4892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A. Dal Pozzolo, O. Caelen, R. A. Johnson and G. Bontempi, "Calibrating probability with undersampling for unbalanced classification," in Proc. IEEE Symp. Series on Computational Intelligence, 2015, pp. 159-166.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T. Chen and C. Guestrin, "XGBoost: A scalable tree boosting system," in Proc. 22nd ACM SIGKDD Int. Conf. Knowledge Discovery and Data Mining, 2016, pp. 785-794.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S. M. Lundberg and S.-I. Lee, "A unified approach to interpreting model predictions," in Advances in Neural Information Processing Systems, vol. 30, 2017, pp. 4765-4774.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S. M. Lundberg et al., "From local explanations to global understanding with explainable AI for trees," Nature Machine Intelligence, vol. 2, no. 1, pp. 56-67, 2020.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J. Bergstra, D. Yamins and D. Cox, "Making a science of model search: Hyperparameter optimization in hundreds of dimensions for vision architectures," in Proc. ICML, 2013, pp. 115-123.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D. Sculley et al., "Hidden technical debt in machine learning systems," in Advances in Neural Information Processing Systems, vol. 28, 2015, pp. 2503-2511.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D. Kreuzberger, N. Kühl and S. Hirschl, "Machine learning operations (MLOps): Overview, definition, and architecture," IEEE Access, vol. 11, pp. 31866-31879, 2023.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J. Gama, I. Žliobaitė, A. Bifet, M. Pechenizkiy and A. Bouchachia, "A survey on concept drift adaptation," ACM Computing Surveys, vol. 46, no. 4, pp. 1-37, 2014.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T. Saito and M. Rehmsmeier, "The precision-recall plot is more informative than the ROC plot when evaluating binary classifiers on imbalanced datasets," PLoS ONE, vol. 10, no. 3, e0118432, 2015.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M. Zaharia et al., "Accelerating the machine learning lifecycle with MLflow," IEEE Data Engineering Bulletin, vol. 41, no. 4, pp. 39-45, 2018.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376</Words>
  <Application>Microsoft Macintosh PowerPoint</Application>
  <PresentationFormat>Custom</PresentationFormat>
  <Paragraphs>98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&lt;&lt;Programme B.Tech/ M.Tech Course Code – Course Title&gt;&gt; &lt;&lt;Project Title&gt;&gt;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Conclusion and Future Work</vt:lpstr>
      <vt:lpstr>Outcome Achieved</vt:lpstr>
      <vt:lpstr>References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&lt;&lt;Programme B.Tech/ M.Tech Course Code – Course Title&gt;&gt; &lt;&lt;Project Title&gt;&gt;</dc:title>
  <dc:creator>Parthasarathy G</dc:creator>
  <cp:lastModifiedBy>Prakash Mohan</cp:lastModifiedBy>
  <cp:revision>12</cp:revision>
  <dcterms:created xsi:type="dcterms:W3CDTF">2026-07-14T06:00:41Z</dcterms:created>
  <dcterms:modified xsi:type="dcterms:W3CDTF">2026-10-05T06:25:49Z</dcterms:modified>
</cp:coreProperties>
</file>