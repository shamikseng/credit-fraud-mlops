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72" r:id="rId24"/>
    <p:sldId id="271" r:id="rId23"/>
    <p:sldId id="270" r:id="rId22"/>
    <p:sldId id="267" r:id="rId12"/>
    <p:sldId id="277" r:id="rId29"/>
    <p:sldId id="276" r:id="rId28"/>
    <p:sldId id="275" r:id="rId27"/>
    <p:sldId id="274" r:id="rId26"/>
    <p:sldId id="273" r:id="rId25"/>
    <p:sldId id="268" r:id="rId13"/>
    <p:sldId id="269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-1232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4.xml"/><Relationship Id="rId13" Type="http://schemas.openxmlformats.org/officeDocument/2006/relationships/slide" Target="slides/slide20.xml"/><Relationship Id="rId14" Type="http://schemas.openxmlformats.org/officeDocument/2006/relationships/slide" Target="slides/slide21.xml"/><Relationship Id="rId15" Type="http://schemas.openxmlformats.org/officeDocument/2006/relationships/slide" Target="slides/slide22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3.xml"/><Relationship Id="rId23" Type="http://schemas.openxmlformats.org/officeDocument/2006/relationships/slide" Target="slides/slide12.xml"/><Relationship Id="rId24" Type="http://schemas.openxmlformats.org/officeDocument/2006/relationships/slide" Target="slides/slide11.xml"/><Relationship Id="rId25" Type="http://schemas.openxmlformats.org/officeDocument/2006/relationships/slide" Target="slides/slide19.xml"/><Relationship Id="rId26" Type="http://schemas.openxmlformats.org/officeDocument/2006/relationships/slide" Target="slides/slide18.xml"/><Relationship Id="rId27" Type="http://schemas.openxmlformats.org/officeDocument/2006/relationships/slide" Target="slides/slide17.xml"/><Relationship Id="rId28" Type="http://schemas.openxmlformats.org/officeDocument/2006/relationships/slide" Target="slides/slide16.xml"/><Relationship Id="rId29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05/10/26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05/10/26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orms.gle/B9B71VPy5b9bZ9dJ8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B.Tech. Computer Science and Engineering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BCSE497J – Project-I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and Drift-Aware Fraud Detection for Digital Payments: A Production-Grade MLOps Pipeline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Shamik Sengupta		  (23BCE0608)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Yashaswini Kanaujia	  (23BCE0622)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z="2000" b="1" dirty="0">
                <a:latin typeface="Times New Roman"/>
                <a:cs typeface="Times New Roman"/>
              </a:rPr>
              <a:t>Dr. Sharmila C</a:t>
            </a:r>
            <a:endParaRPr lang="en-US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i="1" dirty="0">
                <a:highlight>
                  <a:srgbClr val="FFFF00"/>
                </a:highlight>
              </a:rPr>
              <a:t>Get the approval for the following points from your guide through mail before  21-10-2026.(sample attached below</a:t>
            </a:r>
            <a:r>
              <a:rPr lang="en-IN" i="1" dirty="0" smtClean="0">
                <a:highlight>
                  <a:srgbClr val="FFFF00"/>
                </a:highlight>
              </a:rPr>
              <a:t>)</a:t>
            </a: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dirty="0" smtClean="0"/>
              <a:t>All </a:t>
            </a:r>
            <a:r>
              <a:rPr lang="en-IN" dirty="0"/>
              <a:t>the above aspects are addressed and updated by the project team.</a:t>
            </a:r>
          </a:p>
          <a:p>
            <a:pPr marL="0" indent="0">
              <a:buNone/>
            </a:pPr>
            <a:endParaRPr lang="en-IN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Screen Shot 2026-10-05 at 11.12.4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53" y="2703606"/>
            <a:ext cx="8942979" cy="267146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4023360"/>
            <a:ext cx="3840480" cy="1097280"/>
          </a:xfrm>
          <a:prstGeom prst="rect">
            <a:avLst/>
          </a:prstGeom>
          <a:solidFill>
            <a:srgbClr val="F7F7F7"/>
          </a:solidFill>
          <a:ln w="15875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1">
                <a:solidFill>
                  <a:srgbClr val="666666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Paste your approval mail screenshot here (replace the sample)</a:t>
            </a:r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104241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04040"/>
                </a:solidFill>
                <a:latin typeface="Times New Roman"/>
                <a:cs typeface="Times New Roman"/>
              </a:rPr>
              <a:t>To design and build an end-to-end MLOps pipeline that </a:t>
            </a: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detects</a:t>
            </a:r>
            <a:r>
              <a:rPr sz="2200" b="0" i="0">
                <a:solidFill>
                  <a:srgbClr val="404040"/>
                </a:solidFill>
                <a:latin typeface="Times New Roman"/>
                <a:cs typeface="Times New Roman"/>
              </a:rPr>
              <a:t> fraud in digital payments (credit cards and UPI), </a:t>
            </a: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explains</a:t>
            </a:r>
            <a:r>
              <a:rPr sz="2200" b="0" i="0">
                <a:solidFill>
                  <a:srgbClr val="404040"/>
                </a:solidFill>
                <a:latin typeface="Times New Roman"/>
                <a:cs typeface="Times New Roman"/>
              </a:rPr>
              <a:t> every fraud decision to the analyst, and </a:t>
            </a: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monitors</a:t>
            </a:r>
            <a:r>
              <a:rPr sz="2200" b="0" i="0">
                <a:solidFill>
                  <a:srgbClr val="404040"/>
                </a:solidFill>
                <a:latin typeface="Times New Roman"/>
                <a:cs typeface="Times New Roman"/>
              </a:rPr>
              <a:t> live input data for drift, with the whole system versioned, tested and deployable as containers.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9184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39" y="3401568"/>
            <a:ext cx="3017520" cy="21579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Detect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XGBoost model tuned for heavily imbalanced data (0.17% fraud), served through a REST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29184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401568"/>
            <a:ext cx="3017520" cy="21579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Explain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Top-5 SHAP contributions with every fraud prediction, in plain feature names on UPI.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29184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401568"/>
            <a:ext cx="3017520" cy="21579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Monitor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Automatic drift checks on incoming data, with Prometheus alerts and a Grafana dashboard.</a:t>
            </a:r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51560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Fraud in digital payments is rare but costly. A useful system must score each payment, explain its decision and notice when incoming data changes.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We built a complete MLOps pipeline on the ULB credit card dataset: DVC-versioned data, XGBoost tuned with Hyperopt, MLflow tracking, a validated FastAPI service and SHAP explanations.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Drift is checked with Evidently in a separate process, exported to Prometheus, alerted on and shown in Grafana. 22 automated tests run in CI before the Docker image is built.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ULB features are anonymised, so explanations read "V14 = -6.17". We therefore ran the same pipeline on a simulated UPI stream with 14 named features, where explanations and drift reports become readable.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46320"/>
            <a:ext cx="2377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0.869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0468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card PR-AUC (82 / 98 caught)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4846320"/>
            <a:ext cx="2377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2 →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39" y="550468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of 29 card features drifted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846320"/>
            <a:ext cx="2377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0.908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50468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UPI PR-AUC (119 / 135 caught)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59" y="4846320"/>
            <a:ext cx="2377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0 →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550468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of 14 UPI features drifted</a:t>
            </a:r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xmlns="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05/10/26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1720"/>
                <a:gridCol w="2011680"/>
                <a:gridCol w="2331720"/>
                <a:gridCol w="2286000"/>
                <a:gridCol w="21031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Pros / Cons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Dal Pozzolo et al., 2015 (IEEE SSCI)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Handle class imbalance in fraud data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Undersampling + probability calibration on ULB data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Simple, fast
− Distorts probabilities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Scores must be recalibrated after undersampling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Chen &amp; Guestrin, 2016 (ACM KDD)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Scalable tree boosting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XGBoost: regularised gradient boosting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Accurate, class weights
− Many hyperparameters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Strong default for tabular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Bergstra et al., 2013 (ICML)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Automate hyperparameter search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Hyperopt with TPE algorithm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Fewer trials than grid search
− Results vary with seed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Efficient model tuning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Saito &amp; Rehmsmeier, 2015 (PLoS ONE)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Evaluate classifiers on imbalanced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Compare ROC and PR plots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Clear guidance
− Binary tasks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PR curve is more informative than ROC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Lundberg &amp; Lee, 2017; Lundberg et al., 2020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Explain individual predictions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SHAP values; exact TreeSHAP for trees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Exact, per prediction
− Hard to read on PCA features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Consistent local explanations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Gama et al., 2014 (ACM CSUR)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Handle concept drift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Survey of drift detection methods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Broad taxonomy
− No deployment details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Deployed models must be monitored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Kreuzberger et al., 2023 (IEEE Access)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Define MLOps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Literature review + expert interviews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Clear components
− No implementation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Needs versioning, CI/CD, serving, monitoring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63040"/>
            <a:ext cx="969264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Times New Roman"/>
                <a:cs typeface="Times New Roman"/>
              </a:rPr>
              <a:t>Evaluation stops at the notebook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Most fraud studies report test-set accuracy only. With 0.17% fraud, predicting "legitimate" for everything already gives 99.83% accuracy.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063239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969264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Times New Roman"/>
                <a:cs typeface="Times New Roman"/>
              </a:rPr>
              <a:t>Explainability and drift are studied separately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SHAP and drift detection are rarely shown together inside a running prediction service.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38912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114800"/>
            <a:ext cx="969264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Times New Roman"/>
                <a:cs typeface="Times New Roman"/>
              </a:rPr>
              <a:t>Practical deployment problems, and no UPI data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The baseline template had one fragile test and no monitoring; Evidently and FastAPI clash on the "multipart" package. For UPI, NPCI and banks publish only aggregates, so no public transaction-level fraud data exists.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486400"/>
            <a:ext cx="10469880" cy="7315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39" y="5596128"/>
            <a:ext cx="10195559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  <a:cs typeface="Times New Roman"/>
              </a:rPr>
              <a:t>Our approach:  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5596128"/>
            <a:ext cx="8412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PR-AUC evaluation + SHAP + isolated drift worker in one tested service, on card data and a simulated UPI stream</a:t>
            </a:r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1280160"/>
            <a:ext cx="10515600" cy="2651760"/>
          </a:xfrm>
        </p:spPr>
        <p:txBody>
          <a:bodyPr>
            <a:normAutofit/>
          </a:bodyPr>
          <a:lstStyle/>
          <a:p>
            <a:r>
              <a:rPr lang="en-IN" dirty="0" sz="1700">
                <a:latin typeface="Times New Roman" panose="02020603050405020304" pitchFamily="18" charset="0"/>
                <a:cs typeface="Times New Roman" panose="02020603050405020304" pitchFamily="18" charset="0"/>
              </a:rPr>
              <a:t>Train a fraud model without data leakage: stratified split, 5-fold CV and PR-AUC</a:t>
            </a:r>
          </a:p>
          <a:p>
            <a:r>
              <a:rPr lang="en-IN" dirty="0" sz="1700">
                <a:latin typeface="Times New Roman" panose="02020603050405020304" pitchFamily="18" charset="0"/>
                <a:cs typeface="Times New Roman" panose="02020603050405020304" pitchFamily="18" charset="0"/>
              </a:rPr>
              <a:t>Tune XGBoost with Hyperopt and track every run in MLflow</a:t>
            </a:r>
          </a:p>
          <a:p>
            <a:r>
              <a:rPr sz="1700">
                <a:latin typeface="Times New Roman"/>
                <a:cs typeface="Times New Roman"/>
              </a:rPr>
              <a:t>Serve the best model through a validated REST API (single and batch)</a:t>
            </a:r>
          </a:p>
          <a:p>
            <a:r>
              <a:rPr sz="1700">
                <a:latin typeface="Times New Roman"/>
                <a:cs typeface="Times New Roman"/>
              </a:rPr>
              <a:t>Return a SHAP explanation with every fraud prediction</a:t>
            </a:r>
          </a:p>
          <a:p>
            <a:r>
              <a:rPr sz="1700">
                <a:latin typeface="Times New Roman"/>
                <a:cs typeface="Times New Roman"/>
              </a:rPr>
              <a:t>Detect input drift automatically and raise Prometheus alerts</a:t>
            </a:r>
          </a:p>
          <a:p>
            <a:r>
              <a:rPr sz="1700">
                <a:latin typeface="Times New Roman"/>
                <a:cs typeface="Times New Roman"/>
              </a:rPr>
              <a:t>Package with Docker and run tests automatically in CI</a:t>
            </a:r>
          </a:p>
          <a:p>
            <a:r>
              <a:rPr sz="1700">
                <a:latin typeface="Times New Roman"/>
                <a:cs typeface="Times New Roman"/>
              </a:rPr>
              <a:t>Apply the same pipeline to a simulated UPI stream with named features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2632EBB-2D05-8D00-7F98-43CBAFAF06ED}"/>
              </a:ext>
            </a:extLst>
          </p:cNvPr>
          <p:cNvSpPr txBox="1"/>
          <p:nvPr/>
        </p:nvSpPr>
        <p:spPr>
          <a:xfrm>
            <a:off x="460248" y="3931920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z="1600" b="1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SDGs 8, 9 and 16          |          TRL 4 (validated in lab)          |          Outcome: Conference paper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xmlns="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389120"/>
            <a:ext cx="2281427" cy="1828800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xmlns="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389120"/>
            <a:ext cx="200439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/ Architecture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3815"/>
            <a:ext cx="11247120" cy="3698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  <a:cs typeface="Times New Roman"/>
              </a:rPr>
              <a:t>Offline training</a:t>
            </a: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 → MLflow   |   </a:t>
            </a:r>
            <a:r>
              <a:rPr sz="1500" b="1" i="0">
                <a:solidFill>
                  <a:srgbClr val="1F3864"/>
                </a:solidFill>
                <a:latin typeface="Times New Roman"/>
                <a:cs typeface="Times New Roman"/>
              </a:rPr>
              <a:t>CI/CD</a:t>
            </a: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 builds the image   |   </a:t>
            </a:r>
            <a:r>
              <a:rPr sz="1500" b="1" i="0">
                <a:solidFill>
                  <a:srgbClr val="1F3864"/>
                </a:solidFill>
                <a:latin typeface="Times New Roman"/>
                <a:cs typeface="Times New Roman"/>
              </a:rPr>
              <a:t>FastAPI</a:t>
            </a: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 serves the best run   |   </a:t>
            </a:r>
            <a:r>
              <a:rPr sz="1500" b="1" i="0">
                <a:solidFill>
                  <a:srgbClr val="1F3864"/>
                </a:solidFill>
                <a:latin typeface="Times New Roman"/>
                <a:cs typeface="Times New Roman"/>
              </a:rPr>
              <a:t>Prometheus + Grafana</a:t>
            </a: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 watch drift   |   </a:t>
            </a:r>
            <a:r>
              <a:rPr sz="1500" b="1" i="0">
                <a:solidFill>
                  <a:srgbClr val="1F3864"/>
                </a:solidFill>
                <a:latin typeface="Times New Roman"/>
                <a:cs typeface="Times New Roman"/>
              </a:rPr>
              <a:t>UPI</a:t>
            </a: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 runs as a 2nd container (:8006)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6583680" cy="4663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6309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309360" cy="4069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Predict Fraud / Legitimate with fraud probability from a JSON transaction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Return top-5 SHAP features for every fraud prediction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Reject missing or non-numeric fields (HTTP 422)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Batch prediction on an uploaded CSV file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Track all runs in MLflow; always serve the best one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Drift check every 500 requests or on demand; show in Prometheus and Grafana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Same service runs on UPI data (DATASET=upi); categories validated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417320"/>
            <a:ext cx="4069080" cy="4663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527048"/>
            <a:ext cx="3794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Non-functional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920240"/>
            <a:ext cx="3794760" cy="4069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Prediction well under 100 ms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Drift failures never break predictions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Reproducible: seed 42, DVC data, pinned versions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Same container locally, compose and Kubernetes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Tests run without dataset or MLflow (CI-friendly)</a:t>
            </a: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3154680" cy="18836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  <a:cs typeface="Times New Roman"/>
              </a:rPr>
              <a:t>1. Data &amp; Versioning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DVC-tracked dataset; stratified 80/20 split keeps the 0.17% fraud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72768"/>
            <a:ext cx="3154680" cy="18836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  <a:cs typeface="Times New Roman"/>
              </a:rPr>
              <a:t>2. Training &amp; Tuning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RobustScaler + XGBoost (class weight ≈ 577); Hyperopt, 20 trials × 5-fold CV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46304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72768"/>
            <a:ext cx="3154680" cy="18836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  <a:cs typeface="Times New Roman"/>
              </a:rPr>
              <a:t>3. Prediction API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FastAPI with pydantic validation; best MLflow run cached in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79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50207"/>
            <a:ext cx="3154680" cy="18836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  <a:cs typeface="Times New Roman"/>
              </a:rPr>
              <a:t>4. Explainability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SHAP TreeExplainer; top-5 features for fraud predictions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840479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950207"/>
            <a:ext cx="3154680" cy="18836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  <a:cs typeface="Times New Roman"/>
              </a:rPr>
              <a:t>5. Drift Monitoring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Evidently worker every 500 requests; Prometheus gauges and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3840479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3950207"/>
            <a:ext cx="3154680" cy="18836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  <a:cs typeface="Times New Roman"/>
              </a:rPr>
              <a:t>6. Deployment &amp; CI/CD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Docker compose (card + UPI services), Kubernetes; GitHub Actions test → build → push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– Data Flow and Sequence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91" y="1325880"/>
            <a:ext cx="2612536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89320"/>
            <a:ext cx="2834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404040"/>
                </a:solidFill>
                <a:latin typeface="Times New Roman"/>
                <a:cs typeface="Times New Roman"/>
              </a:rPr>
              <a:t>Level-1 Data Flow Diagram</a:t>
            </a:r>
          </a:p>
        </p:txBody>
      </p:sp>
      <p:pic>
        <p:nvPicPr>
          <p:cNvPr id="9" name="Picture 8" descr="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326" y="1371600"/>
            <a:ext cx="6559826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0" y="5989320"/>
            <a:ext cx="795527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404040"/>
                </a:solidFill>
                <a:latin typeface="Times New Roman"/>
                <a:cs typeface="Times New Roman"/>
              </a:rPr>
              <a:t>Sequence of a prediction request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– Training and Prediction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691640" cy="86868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creditcard.csv (DVC)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58568" y="1860804"/>
            <a:ext cx="146304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23160" y="1508760"/>
            <a:ext cx="169164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1F3864"/>
                </a:solidFill>
                <a:latin typeface="Times New Roman"/>
                <a:cs typeface="Times New Roman"/>
              </a:rPr>
              <a:t>Stratified split 80/20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1860804"/>
            <a:ext cx="146304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508760"/>
            <a:ext cx="169164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1F3864"/>
                </a:solidFill>
                <a:latin typeface="Times New Roman"/>
                <a:cs typeface="Times New Roman"/>
              </a:rPr>
              <a:t>RobustScaler (Time, Amount)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07608" y="1860804"/>
            <a:ext cx="146304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169164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1F3864"/>
                </a:solidFill>
                <a:latin typeface="Times New Roman"/>
                <a:cs typeface="Times New Roman"/>
              </a:rPr>
              <a:t>XGBoost w = 577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82128" y="1860804"/>
            <a:ext cx="146304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169164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1F3864"/>
                </a:solidFill>
                <a:latin typeface="Times New Roman"/>
                <a:cs typeface="Times New Roman"/>
              </a:rPr>
              <a:t>Hyperopt 20 × 5-fold CV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56648" y="1860804"/>
            <a:ext cx="146304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21240" y="1508760"/>
            <a:ext cx="1691640" cy="86868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MLflow best by PR-AUC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43200"/>
            <a:ext cx="5394960" cy="338328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52928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864"/>
                </a:solidFill>
                <a:latin typeface="Times New Roman"/>
                <a:cs typeface="Times New Roman"/>
              </a:rPr>
              <a:t>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246120"/>
            <a:ext cx="5120640" cy="2788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Train: 227,845 rows (394 frauds); Test: 56,962 rows (98 frauds)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Class weight instead of resampling handles imbalance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Each trial scored by mean PR-AUC over 5 folds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Best settings: depth 5, 300 trees, learning rate 0.093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Training run takes about 6.4 minutes on a laptop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788920"/>
            <a:ext cx="5394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864"/>
                </a:solidFill>
                <a:latin typeface="Times New Roman"/>
                <a:cs typeface="Times New Roman"/>
              </a:rPr>
              <a:t>Prediction API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17920" y="3246120"/>
          <a:ext cx="539496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28803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Endpoint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POST /prediction_api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Label, probability, SHAP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POST /prediction_ui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Label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POST /batch_prediction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CSV in, CSV with predictions out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POST, GET /monitoring/drift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Run / read drift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GET /metrics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Prometheus metrics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– Explainability and Drift Monitoring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Explainability (SHAP)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166360" cy="4069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TreeExplainer gives exact contributions for XGBoost and is fast (~12 ms)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Returned only for fraud predictions, so normal traffic is not slowed down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Each feature: value, SHAP score and direction (increases / decreases fraud risk)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Example: V14, V10 and V12 were the top reasons for a real fraud transaction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2704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Drift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5166360" cy="4069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Every request is stored in a buffer of 500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A separate worker process runs Evidently against 20,000 training rows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29 features checked (Time excluded: it always increases)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Feature drifts if score &gt; 0.1; dataset drifts if ≥ 30% of features drift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Prometheus alerts fire if drift lasts 10 minutes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– UPI Extension (Simulated Data)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6035040" cy="4663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57607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  <a:cs typeface="Times New Roman"/>
              </a:rPr>
              <a:t>Simulated UPI 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760720" cy="4069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No public UPI fraud data exists, so we wrote a seeded simulator (simulate.py): 330,687 payments, 180 days, 1,200 frauds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14 named features: amount, hour, merchant category, UPI app, new device, new payee, payee VPA age, payments in 24 h, amount vs usual ...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Days 0–89: account takeover (new device, night, large P2P bursts)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From day 90: festive season (bigger baskets, evening shopping, new sellers) and a new scam type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Same pipeline: one-hot encoding + XGBoost, trained on days 0–59, tested on unseen days 60–89 (time split)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46304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Times New Roman"/>
                <a:cs typeface="Times New Roman"/>
              </a:rPr>
              <a:t>Why it matters: the same fraud, explained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011680"/>
            <a:ext cx="4754880" cy="14630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121408"/>
            <a:ext cx="4480560" cy="12435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  <a:cs typeface="Times New Roman"/>
              </a:rPr>
              <a:t>Credit card (anonymised)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Flagged because V14 = −6.17, V10 = −4.88, V12 = −4.69. Accurate, but an analyst cannot act on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657600"/>
            <a:ext cx="4754880" cy="242316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3767328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  <a:cs typeface="Times New Roman"/>
              </a:rPr>
              <a:t>UPI (named features)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160520"/>
            <a:ext cx="44805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is_new_device = 1 (+4.63)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amount_to_user_avg = 12.29 (+3.92)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hour = 4 (+2.09)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txns_last_24h = 8 (+1.50)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txn_type = P2P (+1.09)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– Model Performance (Card)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  <a:cs typeface="Times New Roman"/>
              </a:rPr>
              <a:t>0.869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cs typeface="Times New Roman"/>
              </a:rPr>
              <a:t>PR-AUC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141732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1463040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  <a:cs typeface="Times New Roman"/>
              </a:rPr>
              <a:t>0.981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05740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cs typeface="Times New Roman"/>
              </a:rPr>
              <a:t>ROC-AUC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141732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463040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  <a:cs typeface="Times New Roman"/>
              </a:rPr>
              <a:t>0.863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05740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cs typeface="Times New Roman"/>
              </a:rPr>
              <a:t>Precision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141732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1463040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  <a:cs typeface="Times New Roman"/>
              </a:rPr>
              <a:t>0.837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05740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cs typeface="Times New Roman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43200"/>
            <a:ext cx="6309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  <a:cs typeface="Times New Roman"/>
              </a:rPr>
              <a:t>Better than what? Baselines on the same split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154680"/>
          <a:ext cx="6309360" cy="2304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1760"/>
                <a:gridCol w="1097280"/>
                <a:gridCol w="12801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PR-AUC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Caught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False alarms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Logistic regression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0.719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90 / 98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1,385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Random forest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0.858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73 / 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XGBoost (default)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0.878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79 / 98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XGBoost (default + weight)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0.880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82 / 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XGBoost (tuned, ours)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0.869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82 / 98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5532120"/>
            <a:ext cx="6309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cs typeface="Times New Roman"/>
              </a:rPr>
              <a:t>XGBoost wins; tuning gave no significant gain over defaults (difference −0.011, 95% CI [−0.028, 0.004]).</a:t>
            </a:r>
          </a:p>
        </p:txBody>
      </p:sp>
      <p:pic>
        <p:nvPicPr>
          <p:cNvPr id="22" name="Picture 21" descr="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02889"/>
            <a:ext cx="4389120" cy="37436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32320" y="557784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404040"/>
                </a:solidFill>
                <a:latin typeface="Times New Roman"/>
                <a:cs typeface="Times New Roman"/>
              </a:rPr>
              <a:t>Confusion matrix (test set, threshold 0.5)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– Curves and Explanation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5188"/>
            <a:ext cx="6675120" cy="30246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6177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404040"/>
                </a:solidFill>
                <a:latin typeface="Times New Roman"/>
                <a:cs typeface="Times New Roman"/>
              </a:rPr>
              <a:t>Precision-recall and ROC curves on the test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6492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The ROC curve looks almost perfect, but the PR curve is more honest: precision stays high up to ~80% recall, then drops.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46304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  <a:cs typeface="Times New Roman"/>
              </a:rPr>
              <a:t>SHAP explanation of a real fraud (p = 0.99997)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06640" y="2011680"/>
          <a:ext cx="420624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5840"/>
                <a:gridCol w="1051560"/>
                <a:gridCol w="1005840"/>
                <a:gridCol w="1143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SHAP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V14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−6.17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+3.12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↑ fraud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V10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−4.88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+1.75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↑ fraud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V12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−4.69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+1.23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↑ fraud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V8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1.17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−0.92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↓ fraud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V2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2.46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−0.69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↓ fraud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06640" y="4937760"/>
            <a:ext cx="42062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Very low V14, V10 and V12 values pushed the transaction towards fraud.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– Drift Detection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0916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404040"/>
                </a:solidFill>
                <a:latin typeface="Times New Roman"/>
                <a:cs typeface="Times New Roman"/>
              </a:rPr>
              <a:t>Drift score per feature (threshold 0.1)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46720" y="1645920"/>
          <a:ext cx="3566160" cy="1508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5840"/>
                <a:gridCol w="914400"/>
                <a:gridCol w="822960"/>
                <a:gridCol w="8229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Traffic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Drifted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Alert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Normal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2 / 29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0.07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Shifted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18 / 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0.62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46720" y="3429000"/>
            <a:ext cx="356616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Normal traffic stayed below the 0.3 alert level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All 13 changed features scored 0.78 – 1.63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Both Prometheus alert rules became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72237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Shifted traffic: Amount tripled and 12 PCA features moved by +1.5 to imitate a change in customer behaviour.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– UPI Extension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  <a:cs typeface="Times New Roman"/>
              </a:rPr>
              <a:t>0.908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cs typeface="Times New Roman"/>
              </a:rPr>
              <a:t>PR-AUC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41732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46304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  <a:cs typeface="Times New Roman"/>
              </a:rPr>
              <a:t>0.881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05740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cs typeface="Times New Roman"/>
              </a:rPr>
              <a:t>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9748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  <a:cs typeface="Times New Roman"/>
              </a:rPr>
              <a:t>0.826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cs typeface="Times New Roman"/>
              </a:rPr>
              <a:t>Precision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65176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69748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  <a:cs typeface="Times New Roman"/>
              </a:rPr>
              <a:t>119 / 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29184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cs typeface="Times New Roman"/>
              </a:rPr>
              <a:t>frauds caught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77639"/>
            <a:ext cx="42062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Tested on unseen days 60–89 (25 false alarms)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Normal months: 0 of 14 features drifted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Festive season: 8 of 14 drifted (57%), alert raised</a:t>
            </a:r>
          </a:p>
          <a:p>
            <a:pPr algn="l" marL="228600" indent="-201168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A festive-season scam is missed: the model never saw that pattern, so drift monitoring is the warning</a:t>
            </a:r>
          </a:p>
        </p:txBody>
      </p:sp>
      <p:pic>
        <p:nvPicPr>
          <p:cNvPr id="20" name="Picture 19" descr="upi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18798"/>
            <a:ext cx="6675120" cy="31289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0" y="544068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404040"/>
                </a:solidFill>
                <a:latin typeface="Times New Roman"/>
                <a:cs typeface="Times New Roman"/>
              </a:rPr>
              <a:t>UPI drift score per feature: normal months vs festive season (threshold 0.1)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760720"/>
            <a:ext cx="6675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1">
                <a:solidFill>
                  <a:srgbClr val="404040"/>
                </a:solidFill>
                <a:latin typeface="Times New Roman"/>
                <a:cs typeface="Times New Roman"/>
              </a:rPr>
              <a:t>Top drift: amount vs usual, hour, amount, payee VPA age, merchant category (simulated data)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– Testing and CI/CD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6675120" cy="3438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731520"/>
                <a:gridCol w="356616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Tests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What is checked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Input validation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Valid input accepted; missing / wrong type rejected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Feature contract + data split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30 features; fraud ratio kept; split repeatable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SHAP explanation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Top-N features, sorted by importance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Drift buffer + summary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Fires every window; Evidently output parsed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Prometheus + end-to-end drift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Gauges updated; real worker detects shift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Model cache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Best run cached, refreshed in background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UPI extension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Simulator, categories, one-hot, SHAP sums, time split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1600200"/>
            <a:ext cx="38404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22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258568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tests passing (no dataset needed)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74920"/>
            <a:ext cx="2057400" cy="86868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cs typeface="Times New Roman"/>
              </a:rPr>
              <a:t>git push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24328" y="5426964"/>
            <a:ext cx="164592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07208" y="5074920"/>
            <a:ext cx="205740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400" b="1">
                <a:solidFill>
                  <a:srgbClr val="1F3864"/>
                </a:solidFill>
                <a:latin typeface="Times New Roman"/>
                <a:cs typeface="Times New Roman"/>
              </a:rPr>
              <a:t>pytest (22 tests)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2896" y="5426964"/>
            <a:ext cx="164592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65776" y="5074920"/>
            <a:ext cx="205740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400" b="1">
                <a:solidFill>
                  <a:srgbClr val="1F3864"/>
                </a:solidFill>
                <a:latin typeface="Times New Roman"/>
                <a:cs typeface="Times New Roman"/>
              </a:rPr>
              <a:t>docker build (tests again)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41464" y="5426964"/>
            <a:ext cx="164592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24344" y="5074920"/>
            <a:ext cx="205740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400" b="1">
                <a:solidFill>
                  <a:srgbClr val="1F3864"/>
                </a:solidFill>
                <a:latin typeface="Times New Roman"/>
                <a:cs typeface="Times New Roman"/>
              </a:rPr>
              <a:t>Push image to GHCR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00032" y="5426964"/>
            <a:ext cx="164592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82912" y="5074920"/>
            <a:ext cx="2057400" cy="86868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cs typeface="Times New Roman"/>
              </a:rPr>
              <a:t>docker compose / Kubernetes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926080"/>
            <a:ext cx="384048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The old template had one test that broke every time a new model was trained. A failing test now blocks the image from being built.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760720" cy="4663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0" cy="4069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Complete MLOps pipeline from versioned data to monitored containers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PR-AUC 0.869: 82 of 98 frauds caught with only 13 false alarms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Every fraud prediction is explained with SHAP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Drift detector separated normal (2/29) and shifted (18/29) traffic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On simulated UPI data: PR-AUC 0.908, readable explanations, festive drift 8/14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22 automated tests, one-command deployment, CI-built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417320"/>
            <a:ext cx="5120640" cy="4663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27048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20240"/>
            <a:ext cx="4846320" cy="4069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MLflow Model Registry for versioned deployments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Send alerts to email / Slack via Alertmanager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Retrain once new fraud labels arrive (champion vs challenger)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Replace simulated UPI data with real labelled data</a:t>
            </a: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5DBCB3-75D0-D33A-66EA-4DDA4A022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– Filed/ Published/ Granted – Screen shot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(or)</a:t>
            </a:r>
          </a:p>
          <a:p>
            <a:pPr marL="0" indent="0">
              <a:buNone/>
            </a:pPr>
            <a:r>
              <a:rPr lang="en-IN" dirty="0" b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Proceedings – Accepted/ Published/ Scopus Indexed  ← Our outcome: conference paper (status: ____ )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(or)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Publication – Accepted/ Published/ Scopus Indexed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Start-up information (if any)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</a:p>
          <a:p>
            <a:pPr marL="0" indent="0" algn="ctr">
              <a:buNone/>
            </a:pPr>
            <a:r>
              <a:rPr lang="en-IN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 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Proof to be uploaded on or before 27 Oct 2026 in the given link 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https://forms.gle/</a:t>
            </a:r>
            <a:r>
              <a:rPr lang="en-IN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B9B71VPy5b9bZ9dJ8</a:t>
            </a:r>
            <a:endParaRPr lang="en-IN" sz="32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325880"/>
            <a:ext cx="10515600" cy="4892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A. Dal Pozzolo, O. Caelen, R. A. Johnson and G. Bontempi, "Calibrating probability with undersampling for unbalanced classification," in Proc. IEEE Symp. Series on Computational Intelligence, 2015, pp. 159-166.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T. Chen and C. Guestrin, "XGBoost: A scalable tree boosting system," in Proc. 22nd ACM SIGKDD Int. Conf. Knowledge Discovery and Data Mining, 2016, pp. 785-794.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S. M. Lundberg and S.-I. Lee, "A unified approach to interpreting model predictions," in Advances in Neural Information Processing Systems, vol. 30, 2017, pp. 4765-4774.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M. Lundberg et al., "From local explanations to global understanding with explainable AI for trees," Nature Machine Intelligence, vol. 2, no. 1, pp. 56-67, 2020.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J. Bergstra, D. Yamins and D. Cox, "Making a science of model search: Hyperparameter optimization in hundreds of dimensions for vision architectures," in Proc. ICML, 2013, pp. 115-123.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D. Sculley et al., "Hidden technical debt in machine learning systems," in Advances in Neural Information Processing Systems, vol. 28, 2015, pp. 2503-2511.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D. Kreuzberger, N. Kühl and S. Hirschl, "Machine learning operations (MLOps): Overview, definition, and architecture," IEEE Access, vol. 11, pp. 31866-31879, 2023.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J. Gama, I. Žliobaitė, A. Bifet, M. Pechenizkiy and A. Bouchachia, "A survey on concept drift adaptation," ACM Computing Surveys, vol. 46, no. 4, pp. 1-37, 2014.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T. Saito and M. Rehmsmeier, "The precision-recall plot is more informative than the ROC plot when evaluating binary classifiers on imbalanced datasets," PLoS ONE, vol. 10, no. 3, e0118432, 2015.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M. Zaharia et al., "Accelerating the machine learning lifecycle with MLflow," IEEE Data Engineering Bulletin, vol. 41, no. 4, pp. 39-45, 2018.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376</Words>
  <Application>Microsoft Macintosh PowerPoint</Application>
  <PresentationFormat>Custom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Prakash Mohan</cp:lastModifiedBy>
  <cp:revision>12</cp:revision>
  <dcterms:created xsi:type="dcterms:W3CDTF">2026-07-14T06:00:41Z</dcterms:created>
  <dcterms:modified xsi:type="dcterms:W3CDTF">2026-10-05T06:25:49Z</dcterms:modified>
</cp:coreProperties>
</file>